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280160"/>
            <a:ext cx="3840480" cy="9558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97280" y="32004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A1A1A"/>
                </a:solidFill>
              </a:defRPr>
            </a:pPr>
            <a:r>
              <a:t>Creator subscriptions on Sui</a:t>
            </a:r>
          </a:p>
          <a:p>
            <a:pPr>
              <a:spcBef>
                <a:spcPts val="1000"/>
              </a:spcBef>
              <a:defRPr sz="1800">
                <a:solidFill>
                  <a:srgbClr val="6B6B6B"/>
                </a:solidFill>
              </a:defRPr>
            </a:pPr>
            <a:r>
              <a:t>Sui Overflow 2026 · Walrus Track · Testnet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6B6B"/>
                </a:solidFill>
              </a:defRPr>
            </a:pPr>
            <a:r>
              <a:t>Google login · USDC · Walrus · Seal · Zero gas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85D3C"/>
                </a:solidFill>
              </a:defRPr>
            </a:pPr>
            <a:r>
              <a:t>30–60 sec · Problem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1A"/>
                </a:solidFill>
              </a:defRPr>
            </a:pPr>
            <a:r>
              <a:t>The problem</a:t>
            </a:r>
          </a:p>
          <a:p>
            <a:pPr>
              <a:spcBef>
                <a:spcPts val="1200"/>
              </a:spcBef>
              <a:defRPr sz="2000">
                <a:solidFill>
                  <a:srgbClr val="6B6B6B"/>
                </a:solidFill>
              </a:defRPr>
            </a:pPr>
            <a:r>
              <a:t>Who hurts today, and why existing tools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A1A1A"/>
                </a:solidFill>
              </a:defRPr>
            </a:pPr>
            <a:r>
              <a:t>Creators lose 20%+ to platforms and do not own their files</a:t>
            </a:r>
          </a:p>
          <a:p>
            <a:pPr>
              <a:spcAft>
                <a:spcPts val="1400"/>
              </a:spcAft>
              <a:defRPr sz="2200">
                <a:solidFill>
                  <a:srgbClr val="1A1A1A"/>
                </a:solidFill>
              </a:defRPr>
            </a:pPr>
            <a:r>
              <a:t>Fans want subscriptions, not wallets, gas, or seed phrases</a:t>
            </a:r>
          </a:p>
          <a:p>
            <a:pPr>
              <a:spcAft>
                <a:spcPts val="1400"/>
              </a:spcAft>
              <a:defRPr sz="2200">
                <a:solidFill>
                  <a:srgbClr val="1A1A1A"/>
                </a:solidFill>
              </a:defRPr>
            </a:pPr>
            <a:r>
              <a:t>Centralized storage means deplatforming and opaque payouts</a:t>
            </a:r>
          </a:p>
          <a:p>
            <a:pPr>
              <a:spcAft>
                <a:spcPts val="1400"/>
              </a:spcAft>
              <a:defRPr sz="2200">
                <a:solidFill>
                  <a:srgbClr val="1A1A1A"/>
                </a:solidFill>
              </a:defRPr>
            </a:pPr>
            <a:r>
              <a:t>Cross-border fans need global stablecoin access, not card 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6B6B"/>
                </a:solidFill>
              </a:defRPr>
            </a:pPr>
            <a:r>
              <a:t>Market validated by Patreon / OnlyFans — UX and ownership still broken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85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1A"/>
                </a:solidFill>
              </a:defRPr>
            </a:pPr>
            <a:r>
              <a:t>Ailurus in one line</a:t>
            </a:r>
          </a:p>
          <a:p>
            <a:pPr>
              <a:spcBef>
                <a:spcPts val="1200"/>
              </a:spcBef>
              <a:defRPr sz="2000">
                <a:solidFill>
                  <a:srgbClr val="6B6B6B"/>
                </a:solidFill>
              </a:defRPr>
            </a:pPr>
            <a:r>
              <a:t>Web2 experience, full Sui stack underneath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A1A1A"/>
                </a:solidFill>
              </a:defRPr>
            </a:pPr>
            <a:r>
              <a:t>Fans: Google login → USDC subscribe → instant unlock</a:t>
            </a:r>
          </a:p>
          <a:p>
            <a:pPr>
              <a:spcAft>
                <a:spcPts val="1400"/>
              </a:spcAft>
              <a:defRPr sz="2200">
                <a:solidFill>
                  <a:srgbClr val="1A1A1A"/>
                </a:solidFill>
              </a:defRPr>
            </a:pPr>
            <a:r>
              <a:t>Creators: upload to Walrus, price in USDC, earn on-chain</a:t>
            </a:r>
          </a:p>
          <a:p>
            <a:pPr>
              <a:spcAft>
                <a:spcPts val="1400"/>
              </a:spcAft>
              <a:defRPr sz="2200">
                <a:solidFill>
                  <a:srgbClr val="1A1A1A"/>
                </a:solidFill>
              </a:defRPr>
            </a:pPr>
            <a:r>
              <a:t>Invisible: Enoki zkLogin + sponsored gas + Seal paywalls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85D3C"/>
                </a:solidFill>
              </a:defRPr>
            </a:pPr>
            <a:r>
              <a:t>~3 min · Product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1A"/>
                </a:solidFill>
              </a:defRPr>
            </a:pPr>
            <a:r>
              <a:t>Product demo</a:t>
            </a:r>
          </a:p>
          <a:p>
            <a:pPr>
              <a:spcBef>
                <a:spcPts val="1200"/>
              </a:spcBef>
              <a:defRPr sz="2000">
                <a:solidFill>
                  <a:srgbClr val="6B6B6B"/>
                </a:solidFill>
              </a:defRPr>
            </a:pPr>
            <a:r>
              <a:t>Live Testnet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A1A1A"/>
                </a:solidFill>
              </a:defRPr>
            </a:pPr>
            <a:r>
              <a:t>1. Landing — publish privately, get paid globally</a:t>
            </a:r>
          </a:p>
          <a:p>
            <a:pPr>
              <a:spcAft>
                <a:spcPts val="1400"/>
              </a:spcAft>
              <a:defRPr sz="2200">
                <a:solidFill>
                  <a:srgbClr val="1A1A1A"/>
                </a:solidFill>
              </a:defRPr>
            </a:pPr>
            <a:r>
              <a:t>2. Feed — browse on-chain creator posts</a:t>
            </a:r>
          </a:p>
          <a:p>
            <a:pPr>
              <a:spcAft>
                <a:spcPts val="1400"/>
              </a:spcAft>
              <a:defRPr sz="2200">
                <a:solidFill>
                  <a:srgbClr val="1A1A1A"/>
                </a:solidFill>
              </a:defRPr>
            </a:pPr>
            <a:r>
              <a:t>3. Explore — discover profiles and subscription prices</a:t>
            </a:r>
          </a:p>
          <a:p>
            <a:pPr>
              <a:spcAft>
                <a:spcPts val="1400"/>
              </a:spcAft>
              <a:defRPr sz="2200">
                <a:solidFill>
                  <a:srgbClr val="1A1A1A"/>
                </a:solidFill>
              </a:defRPr>
            </a:pPr>
            <a:r>
              <a:t>4. Subscribe — USDC payment, Move contract records access</a:t>
            </a:r>
          </a:p>
          <a:p>
            <a:pPr>
              <a:spcAft>
                <a:spcPts val="1400"/>
              </a:spcAft>
              <a:defRPr sz="2200">
                <a:solidFill>
                  <a:srgbClr val="1A1A1A"/>
                </a:solidFill>
              </a:defRPr>
            </a:pPr>
            <a:r>
              <a:t>5. Unlock — Seal decrypts media for active subscribers</a:t>
            </a:r>
          </a:p>
          <a:p>
            <a:pPr>
              <a:spcAft>
                <a:spcPts val="1400"/>
              </a:spcAft>
              <a:defRPr sz="2200">
                <a:solidFill>
                  <a:srgbClr val="1A1A1A"/>
                </a:solidFill>
              </a:defRPr>
            </a:pPr>
            <a:r>
              <a:t>6. Upload — Walrus SDK + encrypted drops for creators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85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Full Sui stack — not a bolt-on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E8E8E8"/>
                </a:solidFill>
              </a:defRPr>
            </a:pPr>
            <a:r>
              <a:t>Enoki — Google identity + sponsored gas (Worker backend)</a:t>
            </a:r>
          </a:p>
          <a:p>
            <a:pPr>
              <a:spcAft>
                <a:spcPts val="1600"/>
              </a:spcAft>
              <a:defRPr sz="2200">
                <a:solidFill>
                  <a:srgbClr val="E8E8E8"/>
                </a:solidFill>
              </a:defRPr>
            </a:pPr>
            <a:r>
              <a:t>Move — USDC subscriptions, profiles, post metadata on Testnet</a:t>
            </a:r>
          </a:p>
          <a:p>
            <a:pPr>
              <a:spcAft>
                <a:spcPts val="1600"/>
              </a:spcAft>
              <a:defRPr sz="2200">
                <a:solidFill>
                  <a:srgbClr val="E8E8E8"/>
                </a:solidFill>
              </a:defRPr>
            </a:pPr>
            <a:r>
              <a:t>Walrus — encrypted albums and clips at scale</a:t>
            </a:r>
          </a:p>
          <a:p>
            <a:pPr>
              <a:spcAft>
                <a:spcPts val="1600"/>
              </a:spcAft>
              <a:defRPr sz="2200">
                <a:solidFill>
                  <a:srgbClr val="E8E8E8"/>
                </a:solidFill>
              </a:defRPr>
            </a:pPr>
            <a:r>
              <a:t>Seal — subscription-gated decryption policies</a:t>
            </a:r>
          </a:p>
          <a:p>
            <a:pPr>
              <a:spcAft>
                <a:spcPts val="1600"/>
              </a:spcAft>
              <a:defRPr sz="2200">
                <a:solidFill>
                  <a:srgbClr val="E8E8E8"/>
                </a:solidFill>
              </a:defRPr>
            </a:pPr>
            <a:r>
              <a:t>Cetus — USDC→WAL liquidity for storage (user-invisible)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85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1A"/>
                </a:solidFill>
              </a:defRPr>
            </a:pPr>
            <a:r>
              <a:t>On-chain evidence (Testnet)</a:t>
            </a:r>
          </a:p>
          <a:p>
            <a:pPr>
              <a:spcBef>
                <a:spcPts val="1200"/>
              </a:spcBef>
              <a:defRPr sz="2000">
                <a:solidFill>
                  <a:srgbClr val="6B6B6B"/>
                </a:solidFill>
              </a:defRPr>
            </a:pPr>
            <a:r>
              <a:t>Deployed and verifiable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A1A1A"/>
                </a:solidFill>
              </a:defRPr>
            </a:pPr>
            <a:r>
              <a:t>Package: 0xe5f702…55937</a:t>
            </a:r>
          </a:p>
          <a:p>
            <a:pPr>
              <a:spcAft>
                <a:spcPts val="1400"/>
              </a:spcAft>
              <a:defRPr sz="2200">
                <a:solidFill>
                  <a:srgbClr val="1A1A1A"/>
                </a:solidFill>
              </a:defRPr>
            </a:pPr>
            <a:r>
              <a:t>Platform: 0xf6f9d5…3cada</a:t>
            </a:r>
          </a:p>
          <a:p>
            <a:pPr>
              <a:spcAft>
                <a:spcPts val="1400"/>
              </a:spcAft>
              <a:defRPr sz="2200">
                <a:solidFill>
                  <a:srgbClr val="1A1A1A"/>
                </a:solidFill>
              </a:defRPr>
            </a:pPr>
            <a:r>
              <a:t>Circle testnet USDC subscriptions</a:t>
            </a:r>
          </a:p>
          <a:p>
            <a:pPr>
              <a:spcAft>
                <a:spcPts val="1400"/>
              </a:spcAft>
              <a:defRPr sz="2200">
                <a:solidFill>
                  <a:srgbClr val="1A1A1A"/>
                </a:solidFill>
              </a:defRPr>
            </a:pPr>
            <a:r>
              <a:t>GitHub: github.com/jeffierw/ailurus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E85D3C"/>
                </a:solidFill>
              </a:defRPr>
            </a:pPr>
            <a:r>
              <a:t>30–60 sec · Future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1A1A"/>
                </a:solidFill>
              </a:defRPr>
            </a:pPr>
            <a:r>
              <a:t>Conclusion &amp; vision</a:t>
            </a:r>
          </a:p>
          <a:p>
            <a:pPr>
              <a:spcBef>
                <a:spcPts val="1200"/>
              </a:spcBef>
              <a:defRPr sz="2000">
                <a:solidFill>
                  <a:srgbClr val="6B6B6B"/>
                </a:solidFill>
              </a:defRPr>
            </a:pPr>
            <a:r>
              <a:t>Production-ready path beyond the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202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A1A1A"/>
                </a:solidFill>
              </a:defRPr>
            </a:pPr>
            <a:r>
              <a:t>Ailurus = Web2-grade creator subscriptions on decentralized infrastructure</a:t>
            </a:r>
          </a:p>
          <a:p>
            <a:pPr>
              <a:spcAft>
                <a:spcPts val="1400"/>
              </a:spcAft>
              <a:defRPr sz="2200">
                <a:solidFill>
                  <a:srgbClr val="1A1A1A"/>
                </a:solidFill>
              </a:defRPr>
            </a:pPr>
            <a:r>
              <a:t>Aha moment: login → pay USDC → unlock encrypted content in seconds</a:t>
            </a:r>
          </a:p>
          <a:p>
            <a:pPr>
              <a:spcAft>
                <a:spcPts val="1400"/>
              </a:spcAft>
              <a:defRPr sz="2200">
                <a:solidFill>
                  <a:srgbClr val="1A1A1A"/>
                </a:solidFill>
              </a:defRPr>
            </a:pPr>
            <a:r>
              <a:t>Mainnet target: July 2026 — contracts, Enoki prod, onboarding</a:t>
            </a:r>
          </a:p>
          <a:p>
            <a:pPr>
              <a:spcAft>
                <a:spcPts val="1400"/>
              </a:spcAft>
              <a:defRPr sz="2200">
                <a:solidFill>
                  <a:srgbClr val="1A1A1A"/>
                </a:solidFill>
              </a:defRPr>
            </a:pPr>
            <a:r>
              <a:t>Next: multi-OAuth, analytics, recommendation feed, Enoki Connect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645920"/>
            <a:ext cx="3200400" cy="796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84048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1A1A"/>
                </a:solidFill>
              </a:defRPr>
            </a:pPr>
            <a:r>
              <a:t>Thank you · Q&amp;A</a:t>
            </a:r>
          </a:p>
          <a:p>
            <a:pPr algn="ctr">
              <a:spcBef>
                <a:spcPts val="1200"/>
              </a:spcBef>
              <a:defRPr sz="1800">
                <a:solidFill>
                  <a:srgbClr val="6B6B6B"/>
                </a:solidFill>
              </a:defRPr>
            </a:pPr>
            <a:r>
              <a:t>ailurus · Sui Overflow 2026 · Walrus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